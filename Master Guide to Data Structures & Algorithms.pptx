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</ns0:sldIdLst>
  <ns0:sldSz cx="12192000" cy="6858000" type="screen4x3"/>
  <ns0:notesSz cx="6858000" cy="9144000"/>
  <ns0:embeddedFontLst>
    <ns0:embeddedFont>
      <ns0:font typeface="Plus Jakarta Sans"/>
      <ns0:bold ns1:id="rIdFont25"/>
      <ns0:regular ns1:id="rIdFont26"/>
    </ns0:embeddedFont>
    <ns0:embeddedFont>
      <ns0:font typeface="JetBrains Mono"/>
      <ns0:bold ns1:id="rIdFont27"/>
      <ns0:regular ns1:id="rIdFont2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Font25" Type="http://schemas.openxmlformats.org/officeDocument/2006/relationships/font" Target="fonts/ca3bd1dc-1470-41d1-b725-f7c137d07230.fntdata" /><ns0:Relationship Id="rIdFont26" Type="http://schemas.openxmlformats.org/officeDocument/2006/relationships/font" Target="fonts/44624a7f-3428-425b-b745-8c4aa1e0b9ad.fntdata" /><ns0:Relationship Id="rIdFont27" Type="http://schemas.openxmlformats.org/officeDocument/2006/relationships/font" Target="fonts/a689c6a2-8eef-4408-9eb8-37b1c8172f71.fntdata" /><ns0:Relationship Id="rIdFont28" Type="http://schemas.openxmlformats.org/officeDocument/2006/relationships/font" Target="fonts/112580f1-b517-40df-a270-8cf1c4f5a8a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6057900"/>
            <a:ext cx="111252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3400" y="6057900"/>
            <a:ext cx="11125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257675"/>
            <a:ext cx="1733550" cy="25717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00300" y="4257675"/>
            <a:ext cx="1809750" cy="25717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4257675"/>
            <a:ext cx="1962150" cy="25717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2000250"/>
            <a:ext cx="10477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COMPREHENSIVE TECHNICAL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228850"/>
            <a:ext cx="8901112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b="1" sz="3750" i="0" u="none">
                <a:solidFill>
                  <a:srgbClr val="FFFFFF"/>
                </a:solidFill>
                <a:latin typeface="Plus Jakarta Sans"/>
              </a:rPr>
              <a:t>Data Structures &amp; Algorithms Master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448050"/>
            <a:ext cx="847725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Plus Jakarta Sans"/>
              </a:rPr>
              <a:t>Systematic guide to memory models, asymptotic bounds, sorting paradigms, graph theory, dynamic programming, and interview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238875"/>
            <a:ext cx="330993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System Architecture &amp; Engineering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10800" y="6238875"/>
            <a:ext cx="1809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JetBrains Mono"/>
              </a:rPr>
              <a:t>v3.0 • 2026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" y="4295775"/>
            <a:ext cx="16383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17 Technical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5550" y="4295775"/>
            <a:ext cx="17145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Memory &amp; Complexities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8650" y="4295775"/>
            <a:ext cx="18669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8BDF8"/>
                </a:solidFill>
                <a:latin typeface="JetBrains Mono"/>
              </a:rPr>
              <a:t>System Design Tradeoffs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945481"/>
            <a:ext cx="5773042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226593"/>
            <a:ext cx="5773042" cy="1157287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517231"/>
            <a:ext cx="5773042" cy="1157287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242" y="2000250"/>
            <a:ext cx="5047357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167" y="2162175"/>
            <a:ext cx="4723507" cy="3295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188368"/>
            <a:ext cx="1905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4764881"/>
            <a:ext cx="16192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FOUNDATIONS &amp;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Asymptotic Notation &amp; Growth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2164556"/>
            <a:ext cx="638286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Big-O (O) • Upper 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459831"/>
            <a:ext cx="5430142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Guaranteed worst-case runtime ceiling. Defines strict maximum operations for size 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445668"/>
            <a:ext cx="657336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Big-Omega (Ω) • Lower Bound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3750468"/>
            <a:ext cx="5430142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Best-case minimum execution baseline. Represents optimal input efficiency floor.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9650" y="4736306"/>
            <a:ext cx="6411441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Big-Theta (Θ) • Tight Bound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5041106"/>
            <a:ext cx="5430142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Exact asymptotic rate match when upper and lower bounds converge on same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00250"/>
            <a:ext cx="54483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000250"/>
            <a:ext cx="54483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475" y="4986337"/>
            <a:ext cx="50101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29375" y="4986337"/>
            <a:ext cx="50101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0525" y="2219325"/>
            <a:ext cx="15621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01225" y="2219325"/>
            <a:ext cx="1638300" cy="238125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MEMORY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Arrays, Vectors, &amp; Linked List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5100637"/>
            <a:ext cx="48006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Index = Base_Addr + (Element_Size * 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5100637"/>
            <a:ext cx="48006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struct Node { T data; Node* next; 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219325"/>
            <a:ext cx="34879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Contiguous Memory (Arrays)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5775" y="2257425"/>
            <a:ext cx="1466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O(1) Random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571750"/>
            <a:ext cx="6262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Cache Locality: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High L1/L2 cache hit ratio via sequential prefetching.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2847975"/>
            <a:ext cx="6262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Dynamic Vectors: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Amortized O(1) append via 2x array resizing capacity.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3124200"/>
            <a:ext cx="62626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Costly Inserts: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O(n) element shifts for interior index modifications.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2219325"/>
            <a:ext cx="35754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Pointer Chasing (Linked Lists)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96475" y="2257425"/>
            <a:ext cx="1543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JetBrains Mono"/>
              </a:rPr>
              <a:t>O(1) Node Insertion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2571750"/>
            <a:ext cx="51054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Heap Allocation: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Non-contiguous nodes connected via memory pointers.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028950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Cache Misses: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Random heap access degrades hardware prefetching.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305175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75569"/>
                </a:solidFill>
                <a:latin typeface="Plus Jakarta Sans"/>
              </a:rPr>
              <a:t>Pointer Overhead: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Additional 8-bytes per node on 64-bit platforms.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89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2219325"/>
            <a:ext cx="11811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17975" y="2219325"/>
            <a:ext cx="1028700" cy="238125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83475" y="2219325"/>
            <a:ext cx="1562100" cy="238125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ARRAY TRAVERSAL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Two Pointers &amp; Sliding Window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5238750"/>
            <a:ext cx="3944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563EB"/>
                </a:solidFill>
                <a:latin typeface="JetBrains Mono"/>
              </a:rPr>
              <a:t>Space: O(1) Auxiliary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975" y="5238750"/>
            <a:ext cx="3944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59669"/>
                </a:solidFill>
                <a:latin typeface="JetBrains Mono"/>
              </a:rPr>
              <a:t>Time: O(n)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3475" y="5238750"/>
            <a:ext cx="39085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2410C"/>
                </a:solidFill>
                <a:latin typeface="JetBrains Mono"/>
              </a:rPr>
              <a:t>Time: O(n) Amortized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257425"/>
            <a:ext cx="1085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Opposite 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571750"/>
            <a:ext cx="41421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Converging Pointers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Left and Right pointers move inward toward center on sorted sequences.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3225" y="2257425"/>
            <a:ext cx="933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Fast &amp; Slow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2571750"/>
            <a:ext cx="41421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Floyd's Cycle Algorithm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9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Slow pointer advances 1 step while Fast advances 2 steps to detect loops.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8725" y="2257425"/>
            <a:ext cx="1466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2410C"/>
                </a:solidFill>
                <a:latin typeface="JetBrains Mono"/>
              </a:rPr>
              <a:t>Dynamic Boundaries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475" y="2571750"/>
            <a:ext cx="390852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Sliding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34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Expand right boundary to satisfy condition, shrink left boundary to optimize.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3376612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3395662"/>
            <a:ext cx="3730562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Two Sum in O(n)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548062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3567112"/>
            <a:ext cx="3730562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Container with Most Water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3225" y="3376612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9425" y="3395662"/>
            <a:ext cx="3730562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Linked List Cycle 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3225" y="3548062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9425" y="3567112"/>
            <a:ext cx="3730562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Find Duplicate Number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8725" y="3376612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4925" y="3395662"/>
            <a:ext cx="3730562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Longest Substring Without Repeats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8725" y="3548062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4925" y="3567112"/>
            <a:ext cx="3730562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Minimum Window Substring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72250" y="1219200"/>
            <a:ext cx="5086350" cy="518160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91325" y="3831431"/>
            <a:ext cx="4648200" cy="785812"/>
          </a:xfrm>
          <a:prstGeom prst="roundRect">
            <a:avLst>
              <a:gd name="adj" fmla="val 96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3452812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62150" y="3452812"/>
            <a:ext cx="100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71800" y="3452812"/>
            <a:ext cx="1190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2425" y="3452812"/>
            <a:ext cx="2181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3400" y="3976687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62150" y="3976687"/>
            <a:ext cx="100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71800" y="3976687"/>
            <a:ext cx="1190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2425" y="3976687"/>
            <a:ext cx="2181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400" y="4500562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62150" y="4500562"/>
            <a:ext cx="100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71800" y="4500562"/>
            <a:ext cx="1190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2425" y="4500562"/>
            <a:ext cx="2181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400" y="5024437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62150" y="5024437"/>
            <a:ext cx="1009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71800" y="5024437"/>
            <a:ext cx="11906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2425" y="5024437"/>
            <a:ext cx="21812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33400" y="2581275"/>
          <a:ext cx="5810250" cy="24574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428750"/>
                <a:gridCol w="1009650"/>
                <a:gridCol w="1190625"/>
                <a:gridCol w="2181225"/>
              </a:tblGrid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Structure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Order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Push / Pop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Key Algorithmic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Stack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LIFO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Call stacks, Expression evaluation, Parsing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Queue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FIFO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BFS traversal, Task schedulers, Buffers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Monotonic Stack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Sorted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O(1) amortized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Next Greater Element, Histogram Area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Deque / Sliding Max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Double Ended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Sliding window maximum in O(n) overall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ABSTRACT DATA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Stacks, Queues, &amp; Monotonic Variants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325" y="3002756"/>
            <a:ext cx="5400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Monotonic Stack Invariant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1325" y="3317081"/>
            <a:ext cx="4743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Elements inside the stack maintain strict increasing or decreasing order. Popped elements yield instant range boundaries.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3725" y="3945731"/>
            <a:ext cx="4438650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while(!stk.empty() &amp;&amp; curr &gt; stk.top()):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val = stk.pop()</a:t>
            </a:r>
            <a:r>
              <a:t>
</a:t>
            </a:r>
            <a:r>
              <a:rPr b="0" sz="975" i="0" u="none">
                <a:solidFill>
                  <a:srgbClr val="38BDF8"/>
                </a:solidFill>
                <a:latin typeface="JetBrains Mono"/>
              </a:rPr>
              <a:t>   resolveNextGreater(val, curr)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00250"/>
            <a:ext cx="54483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000250"/>
            <a:ext cx="54483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475" y="4986337"/>
            <a:ext cx="50101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29375" y="4986337"/>
            <a:ext cx="50101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9125" y="2219325"/>
            <a:ext cx="13335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20225" y="2219325"/>
            <a:ext cx="2019300" cy="238125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EXECUTION &amp; SEARCH TREES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Recursion, Call Stacks, &amp; Backtracking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5100637"/>
            <a:ext cx="48006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Stack frame = Registers + Locals + Ret Addr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5100637"/>
            <a:ext cx="48006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state.add(choice); dfs(); state.remove(choice);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590800"/>
            <a:ext cx="51054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Every recursive call allocates local variables, return addresses, and parameters onto call stack memory.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2590800"/>
            <a:ext cx="51054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Explores decision trees systematically, backtracking immediately when constraint check fails.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219325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Stack Frame Overhead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4375" y="2257425"/>
            <a:ext cx="1238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O(d) Call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3119437"/>
            <a:ext cx="626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Base Case Required: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Prevents infinite recursion stack overflow.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3367087"/>
            <a:ext cx="510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Tail Call Optimization: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Reuses stack frame when recursive call is last statement.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2219325"/>
            <a:ext cx="332541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Backtracking State Pruning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5475" y="2257425"/>
            <a:ext cx="1924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Depth-First State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119437"/>
            <a:ext cx="576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Choose - Explore - Unchoose Pattern: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Modifies state in-place.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3367087"/>
            <a:ext cx="576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Classic Applications: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N-Queens, Sudoku, Subsets, Permutations.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3448050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57858" y="3448050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486894" y="3448050"/>
            <a:ext cx="15013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88272" y="3448050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17307" y="3448050"/>
            <a:ext cx="1230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7967" y="3448050"/>
            <a:ext cx="996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4669" y="3448050"/>
            <a:ext cx="3113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3800475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57858" y="3800475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86894" y="3800475"/>
            <a:ext cx="15013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8272" y="3800475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17307" y="3800475"/>
            <a:ext cx="1230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47967" y="3800475"/>
            <a:ext cx="996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44669" y="3800475"/>
            <a:ext cx="3113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400" y="4152900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57858" y="4152900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86894" y="4152900"/>
            <a:ext cx="15013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8272" y="4152900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17307" y="4152900"/>
            <a:ext cx="1230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7967" y="4152900"/>
            <a:ext cx="996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44669" y="4152900"/>
            <a:ext cx="3113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3400" y="4505325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57858" y="4505325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6894" y="4505325"/>
            <a:ext cx="15013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8272" y="4505325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17307" y="4505325"/>
            <a:ext cx="1230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7967" y="4505325"/>
            <a:ext cx="996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44669" y="4505325"/>
            <a:ext cx="3113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400" y="4857750"/>
            <a:ext cx="16244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57858" y="4857750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86894" y="4857750"/>
            <a:ext cx="15013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988272" y="4857750"/>
            <a:ext cx="13290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17307" y="4857750"/>
            <a:ext cx="123065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47967" y="4857750"/>
            <a:ext cx="9967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44669" y="4857750"/>
            <a:ext cx="31139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33400" y="2747962"/>
          <a:ext cx="11125196" cy="2124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24458"/>
                <a:gridCol w="1329035"/>
                <a:gridCol w="1501378"/>
                <a:gridCol w="1329035"/>
                <a:gridCol w="1230659"/>
                <a:gridCol w="996701"/>
                <a:gridCol w="3113930"/>
              </a:tblGrid>
              <a:tr h="35401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Best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Average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Worst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Aux Space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Stable?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Primary Paradigm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54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Quick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Divide &amp; Conquer (In-place pivot)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Merge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Divide &amp; Conquer (External merge)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Heap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Binary Max-Heap Selection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012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Timsort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Hybrid Insertion + Merge Runs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01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Counting Sort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+ 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+ 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O(n + 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Non-Comparison Key Frequency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ALGORITHM COMPARISON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Core Sorting Paradigms &amp; Complexity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00250"/>
            <a:ext cx="54483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000250"/>
            <a:ext cx="54483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475" y="4986337"/>
            <a:ext cx="50101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29375" y="4986337"/>
            <a:ext cx="5010150" cy="414337"/>
          </a:xfrm>
          <a:prstGeom prst="roundRect">
            <a:avLst>
              <a:gd name="adj" fmla="val 1839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2475" y="2219325"/>
            <a:ext cx="11049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29375" y="2219325"/>
            <a:ext cx="1638300" cy="238125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LOGARITHMIC LOOKUP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Binary Search &amp; Predicate Search 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5100637"/>
            <a:ext cx="48006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mid = low + (high - low) /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5100637"/>
            <a:ext cx="48006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8BDF8"/>
                </a:solidFill>
                <a:latin typeface="JetBrains Mono"/>
              </a:rPr>
              <a:t>if isValid(mid): high = mid else: low = mid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257425"/>
            <a:ext cx="1009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Index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571750"/>
            <a:ext cx="657582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Discrete Array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886075"/>
            <a:ext cx="6262687" cy="207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Eliminates half the remaining elements per iteration on sorted arrays.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257425"/>
            <a:ext cx="1543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Answer Range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571750"/>
            <a:ext cx="57626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Binary Search on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2886075"/>
            <a:ext cx="510540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Searches monotonic continuous value ranges [Min_Val, Max_Val] via boolean feasibility function.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169443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3188493"/>
            <a:ext cx="60483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Lower Bound: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First index where arr[i] &gt;=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340893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3359943"/>
            <a:ext cx="60483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Upper Bound: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First index where arr[i] &gt;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625" y="3376612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0825" y="3395662"/>
            <a:ext cx="55911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Capacity to Ship Packages within D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3548062"/>
            <a:ext cx="762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0825" y="3567112"/>
            <a:ext cx="5591175" cy="17145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Koko Eating Bananas Speed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955006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236118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517231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2000250"/>
            <a:ext cx="55721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62175"/>
            <a:ext cx="5248275" cy="3295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197893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479006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760118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HIERARCHICAL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Binary Search Trees &amp; Self-Balancing Mechanics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174081"/>
            <a:ext cx="576500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BST Invariant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469356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Left subtree keys &lt; Root key &lt; Right subtree keys. Inorder yields sorted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3455193"/>
            <a:ext cx="5698331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AVL Trees (Strict Balance)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750468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Height difference between subtrees ≤ 1. Restores balance via tree rotations.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4736306"/>
            <a:ext cx="574595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Red-Black Trees (Relaxed)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5031581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Node color rules guarantee longest path ≤ 2x shortest path. Powers std::map.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89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2219325"/>
            <a:ext cx="17145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17975" y="2219325"/>
            <a:ext cx="1181100" cy="238125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83475" y="2219325"/>
            <a:ext cx="1257300" cy="238125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PRIORITY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Binary Heaps &amp; Priority Queue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5238750"/>
            <a:ext cx="3944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563EB"/>
                </a:solidFill>
                <a:latin typeface="JetBrains Mono"/>
              </a:rPr>
              <a:t>Space: Zero Pointer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975" y="5238750"/>
            <a:ext cx="3944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59669"/>
                </a:solidFill>
                <a:latin typeface="JetBrains Mono"/>
              </a:rPr>
              <a:t>Time: O(1) Top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3475" y="5238750"/>
            <a:ext cx="39085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2410C"/>
                </a:solidFill>
                <a:latin typeface="JetBrains Mono"/>
              </a:rPr>
              <a:t>Memory: O(K) Fixed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257425"/>
            <a:ext cx="1619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Array Representation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571750"/>
            <a:ext cx="41421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Complete Binary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Stored compactly in contiguous arrays without child node pointers.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3225" y="2257425"/>
            <a:ext cx="1085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Restructuring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2571750"/>
            <a:ext cx="41421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Sift-Up &amp; Sift-Down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9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Swaps elements along parent-child paths to preserve Max-Heap / Min-Heap property.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8725" y="2257425"/>
            <a:ext cx="1162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2410C"/>
                </a:solidFill>
                <a:latin typeface="JetBrains Mono"/>
              </a:rPr>
              <a:t>Streaming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475" y="2571750"/>
            <a:ext cx="390852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Top-K Stream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34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Maintains Min-Heap of size K to process massive streaming datasets in memory.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3376612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3395662"/>
            <a:ext cx="3944875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Left Child = 2i + 1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" y="3538537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3557587"/>
            <a:ext cx="3944875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Right Child = 2i + 2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275" y="3700462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3719512"/>
            <a:ext cx="3944875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Parent = (i - 1) /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1300" y="3381375"/>
            <a:ext cx="66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975" y="3395662"/>
            <a:ext cx="3944875" cy="15240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Insert: O(log n) Sift-Up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1300" y="3533775"/>
            <a:ext cx="66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17975" y="3548062"/>
            <a:ext cx="3944875" cy="15240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Extract Top: O(log n) Sift-Down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1300" y="3686175"/>
            <a:ext cx="66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17975" y="3700462"/>
            <a:ext cx="3944875" cy="15240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Build Heap: O(n) Floyd's Algo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6800" y="3381375"/>
            <a:ext cx="66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3475" y="3395662"/>
            <a:ext cx="3908524" cy="15240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Kth Largest Element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6800" y="3533775"/>
            <a:ext cx="66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3475" y="3548062"/>
            <a:ext cx="3908524" cy="152400"/>
          </a:xfrm>
          <a:prstGeom prst="rect">
            <a:avLst/>
          </a:prstGeom>
          <a:noFill/>
        </p:spPr>
        <p:txBody>
          <a:bodyPr wrap="none" lIns="666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Plus Jakarta Sans"/>
              </a:rPr>
              <a:t>Merge K Sorted Lists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00250"/>
            <a:ext cx="54483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000250"/>
            <a:ext cx="54483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48125" y="2219325"/>
            <a:ext cx="17145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572625" y="2219325"/>
            <a:ext cx="1866900" cy="238125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NETWORK EXPLORATION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Graph Representations &amp; Traversal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2475" y="5238750"/>
            <a:ext cx="626268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563EB"/>
                </a:solidFill>
                <a:latin typeface="JetBrains Mono"/>
              </a:rPr>
              <a:t>Time Complexity: O(V + 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9375" y="5238750"/>
            <a:ext cx="5762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B45309"/>
                </a:solidFill>
                <a:latin typeface="JetBrains Mono"/>
              </a:rPr>
              <a:t>Time Complexity: O(V + 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2571750"/>
            <a:ext cx="6262687" cy="207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Explores graph nodes outwards level-by-level from origin node.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9375" y="2571750"/>
            <a:ext cx="5762625" cy="207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Traverses deeply along each branch before backtracking.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219325"/>
            <a:ext cx="328791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Breadth-First Search (BFS)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3375" y="2257425"/>
            <a:ext cx="16192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Queue-Based Layering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893218"/>
            <a:ext cx="626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Unweighted Shortest Path: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Guarantees minimum edge hops.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140868"/>
            <a:ext cx="626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Space Complexity: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O(V) queue storing frontier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219325"/>
            <a:ext cx="30753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Depth-First Search (DFS)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7875" y="2257425"/>
            <a:ext cx="1771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B45309"/>
                </a:solidFill>
                <a:latin typeface="JetBrains Mono"/>
              </a:rPr>
              <a:t>Stack / Recursion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2893218"/>
            <a:ext cx="576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Path Discovery: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Solves maze paths, cycle detection, topological ordering.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140868"/>
            <a:ext cx="5762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Space Complexity:</a:t>
            </a:r>
            <a:r>
              <a:rPr b="0" sz="1050" i="0" u="none">
                <a:solidFill>
                  <a:srgbClr val="475569"/>
                </a:solidFill>
                <a:latin typeface="Plus Jakarta Sans"/>
              </a:rPr>
              <a:t> O(H) call stack memory depth.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3624262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52675" y="3624262"/>
            <a:ext cx="1917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70325" y="3624262"/>
            <a:ext cx="885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55406" y="3624262"/>
            <a:ext cx="1942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97613" y="3624262"/>
            <a:ext cx="4560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3976687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52675" y="3976687"/>
            <a:ext cx="1917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0325" y="3976687"/>
            <a:ext cx="885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55406" y="3976687"/>
            <a:ext cx="1942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97613" y="3976687"/>
            <a:ext cx="4560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3400" y="4329112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2675" y="4329112"/>
            <a:ext cx="1917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325" y="4329112"/>
            <a:ext cx="885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55406" y="4329112"/>
            <a:ext cx="1942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97613" y="4329112"/>
            <a:ext cx="4560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400" y="4681537"/>
            <a:ext cx="18192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52675" y="4681537"/>
            <a:ext cx="19176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0325" y="4681537"/>
            <a:ext cx="88508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406" y="4681537"/>
            <a:ext cx="19422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97613" y="4681537"/>
            <a:ext cx="45609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33400" y="2924175"/>
          <a:ext cx="11125198" cy="17716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19275"/>
                <a:gridCol w="1917650"/>
                <a:gridCol w="885080"/>
                <a:gridCol w="1942207"/>
                <a:gridCol w="4560986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Algorithm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Time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Space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Negative Weights?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Core Mechanism / Use Case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Dijkstra's Algo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O((V + E) log V)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O(V)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Greedy edge relaxation via Min-Heap. GPS maps.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Bellman-Ford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O(V × 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O(V)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Relaxes all edges V-1 times. Detects negative cycles.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Floyd-Warshall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O(V³)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O(V²)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Yes (No cycles)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All-Pairs Shortest Path 2D Dynamic Programming.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A*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O(E) worst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JetBrains Mono"/>
                        </a:rPr>
                        <a:t>O(V)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Heuristic Priority f(n) = g(n) + h(n) pathfinding.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WEIGHTED GRAPH PATHS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Shortest Path Algorithms Matrix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955006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236118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517231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2000250"/>
            <a:ext cx="55721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62175"/>
            <a:ext cx="5248275" cy="3295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197893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479006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760118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GRAPH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Minimum Spanning Trees &amp; Topological Sorting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174081"/>
            <a:ext cx="574595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Kruskal's MST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469356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Sorts edges by weight, adds valid edges using Union-Find to avoid cycles.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455193"/>
            <a:ext cx="576500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Prim's MST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750468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Grows connected component node-by-node selecting minimum weight cut edge.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4736306"/>
            <a:ext cx="574595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Kahn's Algorithm (Topological)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5031581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Processes zero in-degree nodes via queue for DAG dependency compilation.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955006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236118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517231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2000250"/>
            <a:ext cx="55721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62175"/>
            <a:ext cx="5248275" cy="3295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197893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479006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760118"/>
            <a:ext cx="219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TEXT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Pattern Matching, Hashing, &amp; 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2174081"/>
            <a:ext cx="576500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KMP Search (LPS Table)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469356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Precomputes Longest Proper Prefix-Suffix array to skip re-scanning text characters.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455193"/>
            <a:ext cx="576500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Rabin-Karp Rolling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750468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Sliding polynomial rolling hash computes string window hashes in O(1)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736306"/>
            <a:ext cx="5698331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Prefix Trie &amp; Aho-Corasick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5031581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Retrieves string prefixes in O(L) time. Aho-Corasick matches multi-patterns simultaneously.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1955006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236118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4517231"/>
            <a:ext cx="5248275" cy="1147762"/>
          </a:xfrm>
          <a:prstGeom prst="roundRect">
            <a:avLst>
              <a:gd name="adj" fmla="val 9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475" y="2000250"/>
            <a:ext cx="55721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62175"/>
            <a:ext cx="5248275" cy="3295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197893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479006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760118"/>
            <a:ext cx="1524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OPTIMIZATION PARADIGMS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Dynamic Programming Sub-Patterns &amp; Grids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174081"/>
            <a:ext cx="574595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0/1 Knapsack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2469356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Item state DP[i][w] = max choice between taking or skipping current item weight.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3455193"/>
            <a:ext cx="574595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Longest Common Subsequence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750468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2D matrix state transition comparing string characters. Forms core of git diff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4736306"/>
            <a:ext cx="5765006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State Space Compression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5031581"/>
            <a:ext cx="4905375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Reduces 2D grid DP memory from O(N × M) down to O(M) using rolling 1D rows.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4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89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2000250"/>
            <a:ext cx="3594050" cy="3619500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2219325"/>
            <a:ext cx="11811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17975" y="2219325"/>
            <a:ext cx="1028700" cy="238125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83475" y="2219325"/>
            <a:ext cx="1257300" cy="238125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Plus Jakarta Sans"/>
              </a:rPr>
              <a:t>ADVANCED RANGE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Disjoint Set Union &amp; Range Query Trees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5238750"/>
            <a:ext cx="3944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2563EB"/>
                </a:solidFill>
                <a:latin typeface="JetBrains Mono"/>
              </a:rPr>
              <a:t>Time: O(α(N)) Inverse Ackermann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975" y="5238750"/>
            <a:ext cx="3944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59669"/>
                </a:solidFill>
                <a:latin typeface="JetBrains Mono"/>
              </a:rPr>
              <a:t>Space: O(N) Array Compact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3475" y="5238750"/>
            <a:ext cx="3908524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C2410C"/>
                </a:solidFill>
                <a:latin typeface="JetBrains Mono"/>
              </a:rPr>
              <a:t>Space: O(4N) Array Bounds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257425"/>
            <a:ext cx="10858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Disjoint Sets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571750"/>
            <a:ext cx="41421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Union-Find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Tracks dynamic component connectivity with near-constant performance.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3225" y="2257425"/>
            <a:ext cx="933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59669"/>
                </a:solidFill>
                <a:latin typeface="JetBrains Mono"/>
              </a:rPr>
              <a:t>Prefix Sums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2571750"/>
            <a:ext cx="414211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Fenwick Tree (BIT)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9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Binary Indexed Tree storing cumulative frequency sums using bitwise lowbit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8725" y="2257425"/>
            <a:ext cx="1162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C2410C"/>
                </a:solidFill>
                <a:latin typeface="JetBrains Mono"/>
              </a:rPr>
              <a:t>Interval Trees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3475" y="2571750"/>
            <a:ext cx="390852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Segment Tree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3475" y="2886075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Binary tree dividing array intervals into sub-segments for arbitrary range functions.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3376612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3395662"/>
            <a:ext cx="3944875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 Path Compression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" y="3538537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3557587"/>
            <a:ext cx="3944875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 Union by Rank /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1775" y="3376612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975" y="3395662"/>
            <a:ext cx="3944875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 Point Update: O(log 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41775" y="3538537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975" y="3557587"/>
            <a:ext cx="3944875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 Prefix Query: O(log 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7275" y="3376612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3475" y="3395662"/>
            <a:ext cx="3908524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 Range Query: O(log 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07275" y="3538537"/>
            <a:ext cx="762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3475" y="3557587"/>
            <a:ext cx="3908524" cy="161925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JetBrains Mono"/>
              </a:rPr>
              <a:t>• Lazy Propagation Update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5791200"/>
            <a:ext cx="111252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2827734"/>
            <a:ext cx="3594050" cy="1354931"/>
          </a:xfrm>
          <a:prstGeom prst="roundRect">
            <a:avLst>
              <a:gd name="adj" fmla="val 843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8900" y="2827734"/>
            <a:ext cx="3594050" cy="1354931"/>
          </a:xfrm>
          <a:prstGeom prst="roundRect">
            <a:avLst>
              <a:gd name="adj" fmla="val 843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4400" y="2931318"/>
            <a:ext cx="3594050" cy="1147762"/>
          </a:xfrm>
          <a:prstGeom prst="roundRect">
            <a:avLst>
              <a:gd name="adj" fmla="val 99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5791200"/>
            <a:ext cx="111252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67900" y="6086475"/>
            <a:ext cx="1790700" cy="238125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070621"/>
            <a:ext cx="1333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975" y="3070621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475" y="3174206"/>
            <a:ext cx="219075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457200"/>
            <a:ext cx="11658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TECHNICAL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85800"/>
            <a:ext cx="116586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FFFFFF"/>
                </a:solidFill>
                <a:latin typeface="Plus Jakarta Sans"/>
              </a:rPr>
              <a:t>Algorithm Pattern Recognition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3150" y="6124575"/>
            <a:ext cx="1695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FFFFFF"/>
                </a:solidFill>
                <a:latin typeface="JetBrains Mono"/>
              </a:rPr>
              <a:t>Master Guide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046809"/>
            <a:ext cx="37162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Input 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3342084"/>
            <a:ext cx="32511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n ≤ 20 → O(2ⁿ) Backtracking.</a:t>
            </a:r>
            <a:r>
              <a:t>
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n ≤ 10⁵ → O(n log n) Sort/Tree.</a:t>
            </a:r>
            <a:r>
              <a:t>
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n ≤ 10⁷ → O(n) Two Pointers/Hash.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4675" y="3046809"/>
            <a:ext cx="3678175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Subproblem Clues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975" y="3342084"/>
            <a:ext cx="3251150" cy="621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Contiguous Subarray → Sliding Window.</a:t>
            </a:r>
            <a:r>
              <a:t>
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Shortest Distance → BFS / Dijkstra.</a:t>
            </a:r>
            <a:r>
              <a:t>
</a:t>
            </a:r>
            <a:r>
              <a:rPr b="0" sz="1125" i="0" u="none">
                <a:solidFill>
                  <a:srgbClr val="94A3B8"/>
                </a:solidFill>
                <a:latin typeface="Plus Jakarta Sans"/>
              </a:rPr>
              <a:t> Min/Max Choice → Dynamic Programming.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7800" y="3150393"/>
            <a:ext cx="3594199" cy="2190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Tradeoff Mastery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3475" y="3445668"/>
            <a:ext cx="3251150" cy="4143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b="0" sz="1125" i="0" u="none">
                <a:solidFill>
                  <a:srgbClr val="94A3B8"/>
                </a:solidFill>
                <a:latin typeface="Plus Jakarta Sans"/>
              </a:rPr>
              <a:t>Precompute with Hash Table for O(1) lookup speed at cost of extra memory space.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010275"/>
            <a:ext cx="67133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Ready for Technical System Architecture &amp; Interviews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229350"/>
            <a:ext cx="6393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Apply these data structures &amp; algorithmic primitives to construct scalable software.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04900" y="1562100"/>
            <a:ext cx="9982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4900" y="2333625"/>
            <a:ext cx="9982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04900" y="3105150"/>
            <a:ext cx="9982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04900" y="3876675"/>
            <a:ext cx="99822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4900" y="2324100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324100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04900" y="3095625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04900" y="3095625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4900" y="3867150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04900" y="3867150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04900" y="4638675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04900" y="4638675"/>
            <a:ext cx="99822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704975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2476500"/>
            <a:ext cx="857250" cy="4762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900" y="3248025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401955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900" y="479107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04900" y="1028700"/>
            <a:ext cx="2700337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225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0275" y="1743075"/>
            <a:ext cx="4524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https://miro.medium.com/1*ENAP16Z-YXbzEebQllXFYA.jpeg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0275" y="1943100"/>
            <a:ext cx="197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00275" y="2514600"/>
            <a:ext cx="4822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https://pages.cs.wisc.edu/~xiaotian/binary_search_diagram.jpg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0275" y="2714625"/>
            <a:ext cx="2488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pages.cs.wisc.edu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00275" y="3286125"/>
            <a:ext cx="8048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https://d14qv6cm1t62pm.cloudfront.net/ccbp-website/Blogs/home/minimum-spanning-tree-image-6.jpg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00275" y="3486150"/>
            <a:ext cx="1964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www.ccbp.in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0275" y="4057650"/>
            <a:ext cx="7941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https://media.geeksforgeeks.org/wp-content/uploads/20250417113106950395/Triedatastructure1.webp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0275" y="4257675"/>
            <a:ext cx="3012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www.geeksforgeeks.org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00275" y="4829175"/>
            <a:ext cx="600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https://miro.medium.com/v2/resize:fit:1400/1*QUFPgsjvWDcqOlra7Omsjg.png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00275" y="5029200"/>
            <a:ext cx="197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